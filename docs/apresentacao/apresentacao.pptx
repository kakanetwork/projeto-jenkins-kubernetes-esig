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Apresente-se e resuma o resultado: um ambiente Jenkins no Tomcat, implantado no Kubernetes e monitorado de ponta a ponta.</a:t>
            </a:r>
          </a:p>
          <a:p>
            <a:endParaRPr/>
          </a:p>
          <a:p>
            <a:r>
              <a:t>[Sources]</a:t>
            </a:r>
          </a:p>
          <a:p>
            <a:r>
              <a:t>- Atividade Técnica – Analista de Infraestrutura 2026 (PDF fornecido pela ESIG)</a:t>
            </a:r>
          </a:p>
          <a:p>
            <a:r>
              <a:t>- https://github.com/kakanetwork/projeto-jenkins-kubernetes-esig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o encadeamento: primeiro a imagem, depois a execução no cluster e, por fim, a coleta e visualização das métricas.</a:t>
            </a:r>
          </a:p>
          <a:p>
            <a:endParaRPr/>
          </a:p>
          <a:p>
            <a:r>
              <a:t>[Sources]</a:t>
            </a:r>
          </a:p>
          <a:p>
            <a:r>
              <a:t>- Atividade Técnica – Analista de Infraestrutura 2026 (PDF fornecido pela ESIG)</a:t>
            </a:r>
          </a:p>
          <a:p>
            <a:r>
              <a:t>- https://github.com/kakanetwork/projeto-jenkins-kubernetes-esig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o Kind cria um control plane e dois workers. O Kustomize reúne os recursos; os scripts padronizam implantação e acesso.</a:t>
            </a:r>
          </a:p>
          <a:p>
            <a:endParaRPr/>
          </a:p>
          <a:p>
            <a:r>
              <a:t>[Sources]</a:t>
            </a:r>
          </a:p>
          <a:p>
            <a:r>
              <a:t>- kubernetes/cluster/kind.yaml, kustomization.yaml e scripts do projeto</a:t>
            </a:r>
          </a:p>
          <a:p>
            <a:r>
              <a:t>- https://github.com/kakanetwork/projeto-jenkins-kubernetes-esig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Percorra o diagrama da esquerda para a direita: acesso local, Jenkins/Jolokia no Tomcat, Telegraf sidecar, Prometheus, Node Exporter e Grafana.</a:t>
            </a:r>
          </a:p>
          <a:p>
            <a:endParaRPr/>
          </a:p>
          <a:p>
            <a:r>
              <a:t>[Sources]</a:t>
            </a:r>
          </a:p>
          <a:p>
            <a:r>
              <a:t>- Diagrama produzido a partir da arquitetura do projeto</a:t>
            </a:r>
          </a:p>
          <a:p>
            <a:r>
              <a:t>- https://github.com/kakanetwork/projeto-jenkins-kubernetes-esig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o print do Jenkins e destaque que o mesmo Tomcat publica também o Jolokia, mas o endpoint de métricas exige autenticação.</a:t>
            </a:r>
          </a:p>
          <a:p>
            <a:endParaRPr/>
          </a:p>
          <a:p>
            <a:r>
              <a:t>[Sources]</a:t>
            </a:r>
          </a:p>
          <a:p>
            <a:r>
              <a:t>- Dockerfile e manifestos do projeto</a:t>
            </a:r>
          </a:p>
          <a:p>
            <a:r>
              <a:t>- https://github.com/kakanetwork/projeto-jenkins-kubernetes-esig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a tela Targets e confirme que Jenkins/Telegraf, os três Node Exporters e o próprio Prometheus estão UP.</a:t>
            </a:r>
          </a:p>
          <a:p>
            <a:endParaRPr/>
          </a:p>
          <a:p>
            <a:r>
              <a:t>[Sources]</a:t>
            </a:r>
          </a:p>
          <a:p>
            <a:r>
              <a:t>- kubernetes/prometheus/prometheus.yml e testes de verificação do projeto</a:t>
            </a:r>
          </a:p>
          <a:p>
            <a:r>
              <a:t>- https://github.com/kakanetwork/projeto-jenkins-kubernetes-esig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os dois prints. No dashboard, destaque CPU, memória, disco e nós. No alerta, explique a condição, o período pendente e o teste de carga na JVM.</a:t>
            </a:r>
          </a:p>
          <a:p>
            <a:endParaRPr/>
          </a:p>
          <a:p>
            <a:r>
              <a:t>[Sources]</a:t>
            </a:r>
          </a:p>
          <a:p>
            <a:r>
              <a:t>- Dashboards e alert-rules.yaml provisionados pelo projeto</a:t>
            </a:r>
          </a:p>
          <a:p>
            <a:r>
              <a:t>- https://github.com/kakanetwork/projeto-jenkins-kubernetes-esig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EF4E55DF-94A2-4CBD-A555-41454A20A6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B75605E-9D8A-4094-A268-5A3DD76D384E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3714750" cy="304800"/>
          </a:xfrm>
          <a:prstGeom prst="roundRect">
            <a:avLst>
              <a:gd name="adj" fmla="val 50000"/>
            </a:avLst>
          </a:prstGeom>
          <a:solidFill>
            <a:srgbClr val="13294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48D359C-4921-4EEC-A705-08ECE96F857F}"/>
              </a:ext>
            </a:extLst>
          </p:cNvPr>
          <p:cNvSpPr>
            <a:spLocks noGrp="1"/>
          </p:cNvSpPr>
          <p:nvPr/>
        </p:nvSpPr>
        <p:spPr>
          <a:xfrm>
            <a:off x="781050" y="71437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7CC8FF"/>
                </a:solidFill>
              </a:defRPr>
            </a:pPr>
            <a:r>
              <a:rPr sz="975" b="1" dirty="0">
                <a:solidFill>
                  <a:srgbClr val="7CC8FF"/>
                </a:solidFill>
              </a:rPr>
              <a:t>DESAFIO TÉCNICO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27F186-2D95-420C-8FA7-97CFF4F6B3E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572516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 dirty="0">
                <a:solidFill>
                  <a:srgbClr val="FFFFFF"/>
                </a:solidFill>
              </a:rPr>
              <a:t>Jenkins no Kubernetes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 dirty="0">
                <a:solidFill>
                  <a:srgbClr val="FFFFFF"/>
                </a:solidFill>
              </a:rPr>
              <a:t>com </a:t>
            </a:r>
            <a:r>
              <a:rPr sz="3900" b="1" dirty="0" err="1">
                <a:solidFill>
                  <a:srgbClr val="FFFFFF"/>
                </a:solidFill>
              </a:rPr>
              <a:t>observabilidade</a:t>
            </a:r>
            <a:endParaRPr sz="3900" b="1" dirty="0">
              <a:solidFill>
                <a:srgbClr val="FFFFFF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3AF25C1-7D3A-46AB-8DBF-CB475024B06D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B9C7DB"/>
                </a:solidFill>
              </a:defRPr>
            </a:pPr>
            <a:r>
              <a:rPr sz="1575" b="0">
                <a:solidFill>
                  <a:srgbClr val="B9C7DB"/>
                </a:solidFill>
              </a:rPr>
              <a:t>Tomcat • Jolokia • Telegraf • Prometheus • Grafana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DE81903-620B-4BA5-B51B-EAA4BCB4A7CB}"/>
              </a:ext>
            </a:extLst>
          </p:cNvPr>
          <p:cNvSpPr>
            <a:spLocks noGrp="1"/>
          </p:cNvSpPr>
          <p:nvPr/>
        </p:nvSpPr>
        <p:spPr>
          <a:xfrm>
            <a:off x="8858250" y="1381125"/>
            <a:ext cx="2190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850" b="1">
                <a:solidFill>
                  <a:srgbClr val="7CC8FF"/>
                </a:solidFill>
              </a:defRPr>
            </a:pPr>
            <a:endParaRPr sz="5850" b="1" dirty="0">
              <a:solidFill>
                <a:srgbClr val="7CC8FF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0725EBF-61B4-4285-BEF6-8E81F13A7196}"/>
              </a:ext>
            </a:extLst>
          </p:cNvPr>
          <p:cNvSpPr>
            <a:spLocks noGrp="1"/>
          </p:cNvSpPr>
          <p:nvPr/>
        </p:nvSpPr>
        <p:spPr>
          <a:xfrm>
            <a:off x="723900" y="57531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Kalvin Nascimento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766FB2F-5F38-4C94-B24B-E2CB17902D0C}"/>
              </a:ext>
            </a:extLst>
          </p:cNvPr>
          <p:cNvSpPr>
            <a:spLocks noGrp="1"/>
          </p:cNvSpPr>
          <p:nvPr/>
        </p:nvSpPr>
        <p:spPr>
          <a:xfrm>
            <a:off x="723900" y="61150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91A3BD"/>
                </a:solidFill>
              </a:defRPr>
            </a:pPr>
            <a:r>
              <a:rPr sz="1125" b="0">
                <a:solidFill>
                  <a:srgbClr val="91A3BD"/>
                </a:solidFill>
              </a:rPr>
              <a:t>Projeto técnico ESIG • 2026</a:t>
            </a:r>
          </a:p>
        </p:txBody>
      </p:sp>
    </p:spTree>
    <p:extLst>
      <p:ext uri="{BB962C8B-B14F-4D97-AF65-F5344CB8AC3E}">
        <p14:creationId xmlns:p14="http://schemas.microsoft.com/office/powerpoint/2010/main" val="1442010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713EE412-8CB4-46D4-932A-1C458191D9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D7140F6-9B6A-4D40-8E1E-41C4ACCD01F6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B63CE"/>
                </a:solidFill>
              </a:defRPr>
            </a:pPr>
            <a:r>
              <a:rPr sz="975" b="1">
                <a:solidFill>
                  <a:srgbClr val="0B63CE"/>
                </a:solidFill>
              </a:rPr>
              <a:t>OBJETIVO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3658E8-E446-4961-BDFE-7AEE30257FB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O desafio foi atendido em três etapas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E74CA0-05FF-4ED6-BE51-F9788F11A8BF}"/>
              </a:ext>
            </a:extLst>
          </p:cNvPr>
          <p:cNvSpPr>
            <a:spLocks noGrp="1"/>
          </p:cNvSpPr>
          <p:nvPr/>
        </p:nvSpPr>
        <p:spPr>
          <a:xfrm>
            <a:off x="11334750" y="6267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02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083F867-AB40-495F-89F5-5C491829CA09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3448050" cy="348615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A6313A7-B6AC-4C25-AFE6-54E86C63A96D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63CE"/>
                </a:solidFill>
              </a:defRPr>
            </a:pPr>
            <a:r>
              <a:rPr sz="2700" b="1">
                <a:solidFill>
                  <a:srgbClr val="0B63CE"/>
                </a:solidFill>
              </a:rPr>
              <a:t>01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6D6BC1-D471-434A-9C77-147B495FDEED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 dirty="0" err="1">
                <a:solidFill>
                  <a:srgbClr val="101828"/>
                </a:solidFill>
              </a:rPr>
              <a:t>Containerização</a:t>
            </a:r>
            <a:endParaRPr sz="1950" b="1" dirty="0">
              <a:solidFill>
                <a:srgbClr val="101828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79FBEF4-3B62-4CAC-A40B-8205B24913D2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 dirty="0">
                <a:solidFill>
                  <a:srgbClr val="667085"/>
                </a:solidFill>
              </a:rPr>
              <a:t>Tomcat 11 com Jenkins e Jolokia </a:t>
            </a:r>
            <a:r>
              <a:rPr sz="1350" b="0" dirty="0" err="1">
                <a:solidFill>
                  <a:srgbClr val="667085"/>
                </a:solidFill>
              </a:rPr>
              <a:t>autenticado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em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uma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imagem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própria</a:t>
            </a:r>
            <a:r>
              <a:rPr sz="1350" b="0" dirty="0">
                <a:solidFill>
                  <a:srgbClr val="667085"/>
                </a:solidFill>
              </a:rPr>
              <a:t>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CE752A6-61EA-462D-9BC7-362E048944AB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742950" cy="47625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59E06EB-C5A7-4A79-8A23-8F267B779D08}"/>
              </a:ext>
            </a:extLst>
          </p:cNvPr>
          <p:cNvSpPr>
            <a:spLocks noGrp="1"/>
          </p:cNvSpPr>
          <p:nvPr/>
        </p:nvSpPr>
        <p:spPr>
          <a:xfrm>
            <a:off x="4371975" y="1981200"/>
            <a:ext cx="3448050" cy="348615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533A2BD-3DFC-4F8E-8E6D-B44C18F0F50D}"/>
              </a:ext>
            </a:extLst>
          </p:cNvPr>
          <p:cNvSpPr>
            <a:spLocks noGrp="1"/>
          </p:cNvSpPr>
          <p:nvPr/>
        </p:nvSpPr>
        <p:spPr>
          <a:xfrm>
            <a:off x="4638675" y="224790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22A9D6"/>
                </a:solidFill>
              </a:defRPr>
            </a:pPr>
            <a:r>
              <a:rPr sz="2700" b="1">
                <a:solidFill>
                  <a:srgbClr val="22A9D6"/>
                </a:solidFill>
              </a:rPr>
              <a:t>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301BC9E-46EB-4EAE-9536-95F02618D294}"/>
              </a:ext>
            </a:extLst>
          </p:cNvPr>
          <p:cNvSpPr>
            <a:spLocks noGrp="1"/>
          </p:cNvSpPr>
          <p:nvPr/>
        </p:nvSpPr>
        <p:spPr>
          <a:xfrm>
            <a:off x="4638675" y="297180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Orquestração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0A620F-0D80-4C40-B8AD-458FA3924266}"/>
              </a:ext>
            </a:extLst>
          </p:cNvPr>
          <p:cNvSpPr>
            <a:spLocks noGrp="1"/>
          </p:cNvSpPr>
          <p:nvPr/>
        </p:nvSpPr>
        <p:spPr>
          <a:xfrm>
            <a:off x="4638675" y="354330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 dirty="0">
                <a:solidFill>
                  <a:srgbClr val="667085"/>
                </a:solidFill>
              </a:rPr>
              <a:t>Kind com </a:t>
            </a:r>
            <a:r>
              <a:rPr sz="1350" b="0" dirty="0" err="1">
                <a:solidFill>
                  <a:srgbClr val="667085"/>
                </a:solidFill>
              </a:rPr>
              <a:t>três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nós</a:t>
            </a:r>
            <a:r>
              <a:rPr sz="1350" b="0" dirty="0">
                <a:solidFill>
                  <a:srgbClr val="667085"/>
                </a:solidFill>
              </a:rPr>
              <a:t>, manifestos Kubernetes </a:t>
            </a:r>
            <a:r>
              <a:rPr sz="1350" b="0" dirty="0" err="1">
                <a:solidFill>
                  <a:srgbClr val="667085"/>
                </a:solidFill>
              </a:rPr>
              <a:t>organizados</a:t>
            </a:r>
            <a:r>
              <a:rPr sz="1350" b="0" dirty="0">
                <a:solidFill>
                  <a:srgbClr val="667085"/>
                </a:solidFill>
              </a:rPr>
              <a:t> com </a:t>
            </a:r>
            <a:r>
              <a:rPr sz="1350" b="0" dirty="0" err="1">
                <a:solidFill>
                  <a:srgbClr val="667085"/>
                </a:solidFill>
              </a:rPr>
              <a:t>Kustomize</a:t>
            </a:r>
            <a:r>
              <a:rPr sz="1350" b="0" dirty="0">
                <a:solidFill>
                  <a:srgbClr val="667085"/>
                </a:solidFill>
              </a:rPr>
              <a:t>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5B0CE93-4BB9-455F-B12B-2005800DD09E}"/>
              </a:ext>
            </a:extLst>
          </p:cNvPr>
          <p:cNvSpPr>
            <a:spLocks noGrp="1"/>
          </p:cNvSpPr>
          <p:nvPr/>
        </p:nvSpPr>
        <p:spPr>
          <a:xfrm>
            <a:off x="4638675" y="4953000"/>
            <a:ext cx="742950" cy="47625"/>
          </a:xfrm>
          <a:prstGeom prst="rect">
            <a:avLst/>
          </a:prstGeom>
          <a:solidFill>
            <a:srgbClr val="22A9D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B0F56BF-2FE7-4A1C-8FD0-DB70F97FD03C}"/>
              </a:ext>
            </a:extLst>
          </p:cNvPr>
          <p:cNvSpPr>
            <a:spLocks noGrp="1"/>
          </p:cNvSpPr>
          <p:nvPr/>
        </p:nvSpPr>
        <p:spPr>
          <a:xfrm>
            <a:off x="8134350" y="1981200"/>
            <a:ext cx="3448050" cy="3486150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2D6418D-61C6-47D5-9E2F-C07276B2241D}"/>
              </a:ext>
            </a:extLst>
          </p:cNvPr>
          <p:cNvSpPr>
            <a:spLocks noGrp="1"/>
          </p:cNvSpPr>
          <p:nvPr/>
        </p:nvSpPr>
        <p:spPr>
          <a:xfrm>
            <a:off x="8401050" y="2247900"/>
            <a:ext cx="76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9A974"/>
                </a:solidFill>
              </a:defRPr>
            </a:pPr>
            <a:r>
              <a:rPr sz="2700" b="1">
                <a:solidFill>
                  <a:srgbClr val="19A974"/>
                </a:solidFill>
              </a:rPr>
              <a:t>03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5DE482D-2C3D-4695-9B30-1E843CD4912D}"/>
              </a:ext>
            </a:extLst>
          </p:cNvPr>
          <p:cNvSpPr>
            <a:spLocks noGrp="1"/>
          </p:cNvSpPr>
          <p:nvPr/>
        </p:nvSpPr>
        <p:spPr>
          <a:xfrm>
            <a:off x="8401050" y="2971800"/>
            <a:ext cx="2905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Observabilidade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22E97BE-8762-4394-A22F-1F970342A89A}"/>
              </a:ext>
            </a:extLst>
          </p:cNvPr>
          <p:cNvSpPr>
            <a:spLocks noGrp="1"/>
          </p:cNvSpPr>
          <p:nvPr/>
        </p:nvSpPr>
        <p:spPr>
          <a:xfrm>
            <a:off x="8401050" y="3543300"/>
            <a:ext cx="2857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 dirty="0">
                <a:solidFill>
                  <a:srgbClr val="667085"/>
                </a:solidFill>
              </a:rPr>
              <a:t>Telegraf, Prometheus, Node Exporter, Grafana, dashboards e </a:t>
            </a:r>
            <a:r>
              <a:rPr sz="1350" b="0" dirty="0" err="1">
                <a:solidFill>
                  <a:srgbClr val="667085"/>
                </a:solidFill>
              </a:rPr>
              <a:t>alertas</a:t>
            </a:r>
            <a:r>
              <a:rPr sz="1350" b="0" dirty="0">
                <a:solidFill>
                  <a:srgbClr val="667085"/>
                </a:solidFill>
              </a:rPr>
              <a:t>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FA4399A-E9BC-4FBE-A29A-2A4F39702F87}"/>
              </a:ext>
            </a:extLst>
          </p:cNvPr>
          <p:cNvSpPr>
            <a:spLocks noGrp="1"/>
          </p:cNvSpPr>
          <p:nvPr/>
        </p:nvSpPr>
        <p:spPr>
          <a:xfrm>
            <a:off x="8401050" y="4953000"/>
            <a:ext cx="742950" cy="47625"/>
          </a:xfrm>
          <a:prstGeom prst="rect">
            <a:avLst/>
          </a:prstGeom>
          <a:solidFill>
            <a:srgbClr val="19A97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05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631A1B3C-FAAC-4BAF-9F1F-B16749A2A1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3130E56-B268-496A-892D-19F4BB9AA573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B63CE"/>
                </a:solidFill>
              </a:defRPr>
            </a:pPr>
            <a:r>
              <a:rPr sz="975" b="1">
                <a:solidFill>
                  <a:srgbClr val="0B63CE"/>
                </a:solidFill>
              </a:rPr>
              <a:t>KUBERNETES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07FD38-B286-40E0-BA6E-8AD92E03E72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O cluster local é reproduzível em poucos comandos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F9CDBE8-57AB-4B40-B36E-A4A9CA6F1D60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Manifestos explícitos para facilitar leitura, explicação e manutenção.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E5E19A0-EBD8-48A6-A74C-6DFC882DB5C7}"/>
              </a:ext>
            </a:extLst>
          </p:cNvPr>
          <p:cNvSpPr>
            <a:spLocks noGrp="1"/>
          </p:cNvSpPr>
          <p:nvPr/>
        </p:nvSpPr>
        <p:spPr>
          <a:xfrm>
            <a:off x="11334750" y="6267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05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9AA5CF3-C6A3-4011-8BBF-CFCE8BB37BC4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233362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DE731C0-1006-44C5-A0E2-7217830D631C}"/>
              </a:ext>
            </a:extLst>
          </p:cNvPr>
          <p:cNvSpPr>
            <a:spLocks noGrp="1"/>
          </p:cNvSpPr>
          <p:nvPr/>
        </p:nvSpPr>
        <p:spPr>
          <a:xfrm>
            <a:off x="1028700" y="2352675"/>
            <a:ext cx="419100" cy="419100"/>
          </a:xfrm>
          <a:prstGeom prst="ellipse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F11DED8-F391-41B9-9D4A-C5FDB554C372}"/>
              </a:ext>
            </a:extLst>
          </p:cNvPr>
          <p:cNvSpPr>
            <a:spLocks noGrp="1"/>
          </p:cNvSpPr>
          <p:nvPr/>
        </p:nvSpPr>
        <p:spPr>
          <a:xfrm>
            <a:off x="1581150" y="23241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Control plane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D1A9BA0-8C4E-4A23-B743-D4494C052BE0}"/>
              </a:ext>
            </a:extLst>
          </p:cNvPr>
          <p:cNvSpPr>
            <a:spLocks noGrp="1"/>
          </p:cNvSpPr>
          <p:nvPr/>
        </p:nvSpPr>
        <p:spPr>
          <a:xfrm>
            <a:off x="1028700" y="2952750"/>
            <a:ext cx="1857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API, scheduler e controle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641B7D7-88D4-4AD2-8125-9AD409A9A96A}"/>
              </a:ext>
            </a:extLst>
          </p:cNvPr>
          <p:cNvSpPr>
            <a:spLocks noGrp="1"/>
          </p:cNvSpPr>
          <p:nvPr/>
        </p:nvSpPr>
        <p:spPr>
          <a:xfrm>
            <a:off x="3495675" y="2114550"/>
            <a:ext cx="233362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434B0CB-6963-4F72-9BD4-C263865E952C}"/>
              </a:ext>
            </a:extLst>
          </p:cNvPr>
          <p:cNvSpPr>
            <a:spLocks noGrp="1"/>
          </p:cNvSpPr>
          <p:nvPr/>
        </p:nvSpPr>
        <p:spPr>
          <a:xfrm>
            <a:off x="3724275" y="2352675"/>
            <a:ext cx="419100" cy="419100"/>
          </a:xfrm>
          <a:prstGeom prst="ellipse">
            <a:avLst/>
          </a:prstGeom>
          <a:solidFill>
            <a:srgbClr val="22A9D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64EC2E2-7A09-4D55-A483-FD24BC8C1E3F}"/>
              </a:ext>
            </a:extLst>
          </p:cNvPr>
          <p:cNvSpPr>
            <a:spLocks noGrp="1"/>
          </p:cNvSpPr>
          <p:nvPr/>
        </p:nvSpPr>
        <p:spPr>
          <a:xfrm>
            <a:off x="4276725" y="23241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Worker 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5B9C33C-EC6B-4CFF-B4DE-48257898EAE2}"/>
              </a:ext>
            </a:extLst>
          </p:cNvPr>
          <p:cNvSpPr>
            <a:spLocks noGrp="1"/>
          </p:cNvSpPr>
          <p:nvPr/>
        </p:nvSpPr>
        <p:spPr>
          <a:xfrm>
            <a:off x="3724275" y="2952750"/>
            <a:ext cx="1857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 dirty="0">
                <a:solidFill>
                  <a:srgbClr val="667085"/>
                </a:solidFill>
              </a:rPr>
              <a:t>Cargas de </a:t>
            </a:r>
            <a:r>
              <a:rPr sz="1050" b="0" dirty="0" err="1">
                <a:solidFill>
                  <a:srgbClr val="667085"/>
                </a:solidFill>
              </a:rPr>
              <a:t>aplicação</a:t>
            </a:r>
            <a:endParaRPr sz="1050" b="0" dirty="0">
              <a:solidFill>
                <a:srgbClr val="667085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BD3E384-C725-414E-9523-1780B70D0CB4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2333625" cy="1466850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72546B4-AB73-4B9C-B8B2-41D98166FB3F}"/>
              </a:ext>
            </a:extLst>
          </p:cNvPr>
          <p:cNvSpPr>
            <a:spLocks noGrp="1"/>
          </p:cNvSpPr>
          <p:nvPr/>
        </p:nvSpPr>
        <p:spPr>
          <a:xfrm>
            <a:off x="6419850" y="2352675"/>
            <a:ext cx="419100" cy="419100"/>
          </a:xfrm>
          <a:prstGeom prst="ellipse">
            <a:avLst/>
          </a:prstGeom>
          <a:solidFill>
            <a:srgbClr val="19A97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47123F4-9996-45D7-832F-9A0962654C64}"/>
              </a:ext>
            </a:extLst>
          </p:cNvPr>
          <p:cNvSpPr>
            <a:spLocks noGrp="1"/>
          </p:cNvSpPr>
          <p:nvPr/>
        </p:nvSpPr>
        <p:spPr>
          <a:xfrm>
            <a:off x="6972300" y="23241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Worker 2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956FEBA-6350-4318-B990-F0C4A4F6C6AA}"/>
              </a:ext>
            </a:extLst>
          </p:cNvPr>
          <p:cNvSpPr>
            <a:spLocks noGrp="1"/>
          </p:cNvSpPr>
          <p:nvPr/>
        </p:nvSpPr>
        <p:spPr>
          <a:xfrm>
            <a:off x="6419850" y="2952750"/>
            <a:ext cx="1857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Cargas de aplicação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FDF755B-8640-4BD0-80F3-E97900D41B7E}"/>
              </a:ext>
            </a:extLst>
          </p:cNvPr>
          <p:cNvSpPr>
            <a:spLocks noGrp="1"/>
          </p:cNvSpPr>
          <p:nvPr/>
        </p:nvSpPr>
        <p:spPr>
          <a:xfrm>
            <a:off x="9010650" y="2114550"/>
            <a:ext cx="2571750" cy="299085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 w="9525">
            <a:solidFill>
              <a:srgbClr val="2434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59A68D6-8157-481E-BA58-1F53C60CDB47}"/>
              </a:ext>
            </a:extLst>
          </p:cNvPr>
          <p:cNvSpPr>
            <a:spLocks noGrp="1"/>
          </p:cNvSpPr>
          <p:nvPr/>
        </p:nvSpPr>
        <p:spPr>
          <a:xfrm>
            <a:off x="9296400" y="23812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C8FF"/>
                </a:solidFill>
              </a:defRPr>
            </a:pPr>
            <a:r>
              <a:rPr sz="1050" b="1">
                <a:solidFill>
                  <a:srgbClr val="7CC8FF"/>
                </a:solidFill>
              </a:rPr>
              <a:t>AUTOMAÇÃO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B6BABB3-2F80-4434-AB98-A8F7AF2F4191}"/>
              </a:ext>
            </a:extLst>
          </p:cNvPr>
          <p:cNvSpPr>
            <a:spLocks noGrp="1"/>
          </p:cNvSpPr>
          <p:nvPr/>
        </p:nvSpPr>
        <p:spPr>
          <a:xfrm>
            <a:off x="9296400" y="28956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 dirty="0">
                <a:solidFill>
                  <a:srgbClr val="FFFFFF"/>
                </a:solidFill>
              </a:rPr>
              <a:t>deploy.sh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696043F-03F6-4E05-80CD-CF3F67D20BC2}"/>
              </a:ext>
            </a:extLst>
          </p:cNvPr>
          <p:cNvSpPr>
            <a:spLocks noGrp="1"/>
          </p:cNvSpPr>
          <p:nvPr/>
        </p:nvSpPr>
        <p:spPr>
          <a:xfrm>
            <a:off x="9296400" y="32766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AFC0D6"/>
                </a:solidFill>
              </a:defRPr>
            </a:pPr>
            <a:r>
              <a:rPr sz="1125" b="0">
                <a:solidFill>
                  <a:srgbClr val="AFC0D6"/>
                </a:solidFill>
              </a:rPr>
              <a:t>Cria/reutiliza o cluster, constrói e aplica.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20AD86E-5BCB-4F3A-A046-D11093AC3713}"/>
              </a:ext>
            </a:extLst>
          </p:cNvPr>
          <p:cNvSpPr>
            <a:spLocks noGrp="1"/>
          </p:cNvSpPr>
          <p:nvPr/>
        </p:nvSpPr>
        <p:spPr>
          <a:xfrm>
            <a:off x="9296400" y="4000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access.sh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940A0E5-9283-4BE2-A214-AD3119C17716}"/>
              </a:ext>
            </a:extLst>
          </p:cNvPr>
          <p:cNvSpPr>
            <a:spLocks noGrp="1"/>
          </p:cNvSpPr>
          <p:nvPr/>
        </p:nvSpPr>
        <p:spPr>
          <a:xfrm>
            <a:off x="9296400" y="4381500"/>
            <a:ext cx="2000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AFC0D6"/>
                </a:solidFill>
              </a:defRPr>
            </a:pPr>
            <a:r>
              <a:rPr sz="1125" b="0">
                <a:solidFill>
                  <a:srgbClr val="AFC0D6"/>
                </a:solidFill>
              </a:rPr>
              <a:t>Abre os acessos locais por port-forward.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796C962-0CC2-412C-84BC-5598744E832E}"/>
              </a:ext>
            </a:extLst>
          </p:cNvPr>
          <p:cNvSpPr>
            <a:spLocks noGrp="1"/>
          </p:cNvSpPr>
          <p:nvPr/>
        </p:nvSpPr>
        <p:spPr>
          <a:xfrm>
            <a:off x="800100" y="4191000"/>
            <a:ext cx="7429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1828"/>
                </a:solidFill>
              </a:defRPr>
            </a:pPr>
            <a:endParaRPr sz="1650" b="1" dirty="0">
              <a:solidFill>
                <a:srgbClr val="101828"/>
              </a:solidFill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64D3840-A02B-45C7-BC02-8B5EE27BB251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 dirty="0">
                <a:solidFill>
                  <a:srgbClr val="667085"/>
                </a:solidFill>
              </a:rPr>
              <a:t>O Node Exporter </a:t>
            </a:r>
            <a:r>
              <a:rPr sz="1350" b="0" dirty="0" err="1">
                <a:solidFill>
                  <a:srgbClr val="667085"/>
                </a:solidFill>
              </a:rPr>
              <a:t>usa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DaemonSet</a:t>
            </a:r>
            <a:r>
              <a:rPr sz="1350" b="0" dirty="0">
                <a:solidFill>
                  <a:srgbClr val="667085"/>
                </a:solidFill>
              </a:rPr>
              <a:t>: </a:t>
            </a:r>
            <a:r>
              <a:rPr sz="1350" b="0" dirty="0" err="1">
                <a:solidFill>
                  <a:srgbClr val="667085"/>
                </a:solidFill>
              </a:rPr>
              <a:t>uma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instância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por</a:t>
            </a:r>
            <a:r>
              <a:rPr sz="1350" b="0" dirty="0">
                <a:solidFill>
                  <a:srgbClr val="667085"/>
                </a:solidFill>
              </a:rPr>
              <a:t> </a:t>
            </a:r>
            <a:r>
              <a:rPr sz="1350" b="0" dirty="0" err="1">
                <a:solidFill>
                  <a:srgbClr val="667085"/>
                </a:solidFill>
              </a:rPr>
              <a:t>nó</a:t>
            </a:r>
            <a:r>
              <a:rPr sz="1350" b="0" dirty="0">
                <a:solidFill>
                  <a:srgbClr val="667085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693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3CCCE55-5BB7-489E-A5BB-F28FC70D41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2FF79EF-95B3-4904-BEE6-381AB3778C2C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B63CE"/>
                </a:solidFill>
              </a:defRPr>
            </a:pPr>
            <a:r>
              <a:rPr sz="975" b="1">
                <a:solidFill>
                  <a:srgbClr val="0B63CE"/>
                </a:solidFill>
              </a:rPr>
              <a:t>ARQUITETURA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BBA37F2-332F-4A97-8E1D-9D3E9437E5F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Um fluxo simples, com responsabilidades separadas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9FBD9B-8B81-439F-9DB2-49732A702AF9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 dirty="0">
                <a:solidFill>
                  <a:srgbClr val="667085"/>
                </a:solidFill>
              </a:rPr>
              <a:t>O Telegraf </a:t>
            </a:r>
            <a:r>
              <a:rPr sz="1275" b="0" dirty="0" err="1">
                <a:solidFill>
                  <a:srgbClr val="667085"/>
                </a:solidFill>
              </a:rPr>
              <a:t>acompanha</a:t>
            </a:r>
            <a:r>
              <a:rPr sz="1275" b="0" dirty="0">
                <a:solidFill>
                  <a:srgbClr val="667085"/>
                </a:solidFill>
              </a:rPr>
              <a:t> o Jenkins </a:t>
            </a:r>
            <a:r>
              <a:rPr sz="1275" b="0" dirty="0" err="1">
                <a:solidFill>
                  <a:srgbClr val="667085"/>
                </a:solidFill>
              </a:rPr>
              <a:t>como</a:t>
            </a:r>
            <a:r>
              <a:rPr sz="1275" b="0" dirty="0">
                <a:solidFill>
                  <a:srgbClr val="667085"/>
                </a:solidFill>
              </a:rPr>
              <a:t> sidecar; o Prometheus </a:t>
            </a:r>
            <a:r>
              <a:rPr sz="1275" b="0" dirty="0" err="1">
                <a:solidFill>
                  <a:srgbClr val="667085"/>
                </a:solidFill>
              </a:rPr>
              <a:t>centraliza</a:t>
            </a:r>
            <a:r>
              <a:rPr sz="1275" b="0" dirty="0">
                <a:solidFill>
                  <a:srgbClr val="667085"/>
                </a:solidFill>
              </a:rPr>
              <a:t> a coleta.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245942-5FBC-4CDB-A0D4-F23E203084DC}"/>
              </a:ext>
            </a:extLst>
          </p:cNvPr>
          <p:cNvSpPr>
            <a:spLocks noGrp="1"/>
          </p:cNvSpPr>
          <p:nvPr/>
        </p:nvSpPr>
        <p:spPr>
          <a:xfrm>
            <a:off x="11334750" y="6267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03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E577194-74E1-465A-B4C1-B1855895D0EE}"/>
              </a:ext>
            </a:extLst>
          </p:cNvPr>
          <p:cNvSpPr>
            <a:spLocks noGrp="1"/>
          </p:cNvSpPr>
          <p:nvPr/>
        </p:nvSpPr>
        <p:spPr>
          <a:xfrm>
            <a:off x="1651819" y="1600201"/>
            <a:ext cx="8967020" cy="514472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31531" y="1809750"/>
            <a:ext cx="8528937" cy="479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28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FBED900F-9494-4E54-BE3F-E03628DBB7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CBE0F0D-ECCB-4572-81E0-C4C721DD6B84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B63CE"/>
                </a:solidFill>
              </a:defRPr>
            </a:pPr>
            <a:r>
              <a:rPr sz="975" b="1">
                <a:solidFill>
                  <a:srgbClr val="0B63CE"/>
                </a:solidFill>
              </a:rPr>
              <a:t>CONTAINERIZAÇÃO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E4BA8AF-06AA-413D-9B8A-A2EEC060F94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Jenkins e Jolokia executam no Tomcat 11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1E82984-6F0A-4B87-82F2-ECCB8178B662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 autenticação do Jolokia protege o endpoint antes da coleta pelo Telegraf.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145FB4-277F-4FD0-9393-E04D8A1844E6}"/>
              </a:ext>
            </a:extLst>
          </p:cNvPr>
          <p:cNvSpPr>
            <a:spLocks noGrp="1"/>
          </p:cNvSpPr>
          <p:nvPr/>
        </p:nvSpPr>
        <p:spPr>
          <a:xfrm>
            <a:off x="11334750" y="6267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04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D19F67B-C948-4751-9751-629C91AF207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476625" cy="398145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FF28468-2107-4961-AF15-82191C6FB078}"/>
              </a:ext>
            </a:extLst>
          </p:cNvPr>
          <p:cNvSpPr>
            <a:spLocks noGrp="1"/>
          </p:cNvSpPr>
          <p:nvPr/>
        </p:nvSpPr>
        <p:spPr>
          <a:xfrm>
            <a:off x="876300" y="2152650"/>
            <a:ext cx="1333500" cy="304800"/>
          </a:xfrm>
          <a:prstGeom prst="roundRect">
            <a:avLst>
              <a:gd name="adj" fmla="val 50000"/>
            </a:avLst>
          </a:prstGeom>
          <a:solidFill>
            <a:srgbClr val="E8F1F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8925CFB-6C64-4947-8112-FB1CB6DF3665}"/>
              </a:ext>
            </a:extLst>
          </p:cNvPr>
          <p:cNvSpPr>
            <a:spLocks noGrp="1"/>
          </p:cNvSpPr>
          <p:nvPr/>
        </p:nvSpPr>
        <p:spPr>
          <a:xfrm>
            <a:off x="971550" y="22002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B63CE"/>
                </a:solidFill>
              </a:defRPr>
            </a:pPr>
            <a:r>
              <a:rPr sz="975" b="1">
                <a:solidFill>
                  <a:srgbClr val="0B63CE"/>
                </a:solidFill>
              </a:rPr>
              <a:t>IMAGEM PRÓPRIA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7A60B5D-DB3F-4581-B5E0-C12373C3D9FC}"/>
              </a:ext>
            </a:extLst>
          </p:cNvPr>
          <p:cNvSpPr>
            <a:spLocks noGrp="1"/>
          </p:cNvSpPr>
          <p:nvPr/>
        </p:nvSpPr>
        <p:spPr>
          <a:xfrm>
            <a:off x="876300" y="26860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Componentes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2092116-92B8-4E5E-81B9-40259AA16CBB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714625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• Tomcat 11 + Java 21</a:t>
            </a:r>
          </a:p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• Jenkins em /jenkins</a:t>
            </a:r>
          </a:p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• Jolokia em /jolokia</a:t>
            </a:r>
          </a:p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• Credenciais via Secret</a:t>
            </a:r>
          </a:p>
          <a:p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• Dados em PVC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71FCA15-A187-4694-8DCA-CD6C970E045A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2714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9A974"/>
                </a:solidFill>
              </a:defRPr>
            </a:pPr>
            <a:endParaRPr sz="1200" b="1" dirty="0">
              <a:solidFill>
                <a:srgbClr val="19A974"/>
              </a:solidFill>
            </a:endParaRPr>
          </a:p>
        </p:txBody>
      </p:sp>
      <p:sp>
        <p:nvSpPr>
          <p:cNvPr id="12" name="PRINT_JENKINS">
            <a:extLst>
              <a:ext uri="{FF2B5EF4-FFF2-40B4-BE49-F238E27FC236}">
                <a16:creationId xmlns:a16="http://schemas.microsoft.com/office/drawing/2014/main" id="{88B63164-1E1E-464E-8ACA-23F67FBBC9CD}"/>
              </a:ext>
            </a:extLst>
          </p:cNvPr>
          <p:cNvSpPr>
            <a:spLocks noGrp="1"/>
          </p:cNvSpPr>
          <p:nvPr/>
        </p:nvSpPr>
        <p:spPr>
          <a:xfrm>
            <a:off x="4400550" y="1885950"/>
            <a:ext cx="718185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9525">
            <a:solidFill>
              <a:srgbClr val="253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9B1132A-E4CD-4588-BF8C-88047EBB6D36}"/>
              </a:ext>
            </a:extLst>
          </p:cNvPr>
          <p:cNvSpPr>
            <a:spLocks noGrp="1"/>
          </p:cNvSpPr>
          <p:nvPr/>
        </p:nvSpPr>
        <p:spPr>
          <a:xfrm>
            <a:off x="4400550" y="1885950"/>
            <a:ext cx="7181850" cy="66675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23E85F4-8E5F-49E9-8E31-6C4DAE6DE599}"/>
              </a:ext>
            </a:extLst>
          </p:cNvPr>
          <p:cNvSpPr>
            <a:spLocks noGrp="1"/>
          </p:cNvSpPr>
          <p:nvPr/>
        </p:nvSpPr>
        <p:spPr>
          <a:xfrm>
            <a:off x="4667250" y="22098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7243A"/>
          </a:solidFill>
          <a:ln w="9525">
            <a:solidFill>
              <a:srgbClr val="3A4B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A50B89B-640E-4107-A90B-60EDCC772F74}"/>
              </a:ext>
            </a:extLst>
          </p:cNvPr>
          <p:cNvSpPr>
            <a:spLocks noGrp="1"/>
          </p:cNvSpPr>
          <p:nvPr/>
        </p:nvSpPr>
        <p:spPr>
          <a:xfrm>
            <a:off x="4667250" y="2276475"/>
            <a:ext cx="514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0B63CE"/>
                </a:solidFill>
              </a:defRPr>
            </a:pPr>
            <a:r>
              <a:rPr sz="1950" b="1">
                <a:solidFill>
                  <a:srgbClr val="0B63CE"/>
                </a:solidFill>
              </a:rPr>
              <a:t>▧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80090D0-287E-4304-9C52-9E5EC66C92A2}"/>
              </a:ext>
            </a:extLst>
          </p:cNvPr>
          <p:cNvSpPr>
            <a:spLocks noGrp="1"/>
          </p:cNvSpPr>
          <p:nvPr/>
        </p:nvSpPr>
        <p:spPr>
          <a:xfrm>
            <a:off x="5181600" y="2219326"/>
            <a:ext cx="59245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 dirty="0">
                <a:solidFill>
                  <a:srgbClr val="FFFFFF"/>
                </a:solidFill>
              </a:rPr>
              <a:t>Jenkins </a:t>
            </a:r>
            <a:r>
              <a:rPr sz="1650" b="1" dirty="0" err="1">
                <a:solidFill>
                  <a:srgbClr val="FFFFFF"/>
                </a:solidFill>
              </a:rPr>
              <a:t>funcionando</a:t>
            </a:r>
            <a:endParaRPr sz="1650" b="1" dirty="0">
              <a:solidFill>
                <a:srgbClr val="FFFFFF"/>
              </a:solidFill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60026C7-955E-4939-B9FC-2EF1632B7EF3}"/>
              </a:ext>
            </a:extLst>
          </p:cNvPr>
          <p:cNvSpPr>
            <a:spLocks noGrp="1"/>
          </p:cNvSpPr>
          <p:nvPr/>
        </p:nvSpPr>
        <p:spPr>
          <a:xfrm>
            <a:off x="5372100" y="2552700"/>
            <a:ext cx="592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9B7CC"/>
                </a:solidFill>
              </a:defRPr>
            </a:pPr>
            <a:endParaRPr sz="1050" b="0" dirty="0">
              <a:solidFill>
                <a:srgbClr val="A9B7CC"/>
              </a:solidFill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A3C8A45-9AFD-4690-A67E-7B42456143E1}"/>
              </a:ext>
            </a:extLst>
          </p:cNvPr>
          <p:cNvSpPr>
            <a:spLocks noGrp="1"/>
          </p:cNvSpPr>
          <p:nvPr/>
        </p:nvSpPr>
        <p:spPr>
          <a:xfrm>
            <a:off x="4762500" y="3781425"/>
            <a:ext cx="645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C6D2E5"/>
                </a:solidFill>
              </a:defRPr>
            </a:pPr>
            <a:endParaRPr sz="1350" b="0" dirty="0">
              <a:solidFill>
                <a:srgbClr val="C6D2E5"/>
              </a:solidFill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C6BBF37E-DC9A-23AA-99F8-73FD28D4A1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668610"/>
            <a:ext cx="5924550" cy="281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389F71FB-2DC2-4557-904A-C8917C41D8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3A74D90-8FE4-4224-967D-F172B8F994D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B63CE"/>
                </a:solidFill>
              </a:defRPr>
            </a:pPr>
            <a:r>
              <a:rPr sz="975" b="1">
                <a:solidFill>
                  <a:srgbClr val="0B63CE"/>
                </a:solidFill>
              </a:rPr>
              <a:t>COLETA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E552A2B-28FD-49B7-A209-0D10C013CAE9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Prometheus confirma a saúde de todos os alvos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5DD94F-5FF6-4CA3-B560-459C1C2F5CBA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Métricas da JVM via Telegraf e métricas dos três nós via Node Exporter.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5585272-F4FE-4B77-B540-2C9F669E84C9}"/>
              </a:ext>
            </a:extLst>
          </p:cNvPr>
          <p:cNvSpPr>
            <a:spLocks noGrp="1"/>
          </p:cNvSpPr>
          <p:nvPr/>
        </p:nvSpPr>
        <p:spPr>
          <a:xfrm>
            <a:off x="11334750" y="6267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06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2C17CEA-44A1-4DD1-9F84-9BBA7030598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3429000" cy="39814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7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D0D23FB-458F-4653-962D-793477FE2328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Alvos monitorados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93D3124-FC4E-4856-A322-8D49A2DD3D62}"/>
              </a:ext>
            </a:extLst>
          </p:cNvPr>
          <p:cNvSpPr>
            <a:spLocks noGrp="1"/>
          </p:cNvSpPr>
          <p:nvPr/>
        </p:nvSpPr>
        <p:spPr>
          <a:xfrm>
            <a:off x="876300" y="2886075"/>
            <a:ext cx="171450" cy="171450"/>
          </a:xfrm>
          <a:prstGeom prst="ellipse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C528A68-CE8A-42C0-82AA-39F5430B65D0}"/>
              </a:ext>
            </a:extLst>
          </p:cNvPr>
          <p:cNvSpPr>
            <a:spLocks noGrp="1"/>
          </p:cNvSpPr>
          <p:nvPr/>
        </p:nvSpPr>
        <p:spPr>
          <a:xfrm>
            <a:off x="1181100" y="28384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Jenkins / JVM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E8445F-0CB7-4101-A937-3DF2761B6D68}"/>
              </a:ext>
            </a:extLst>
          </p:cNvPr>
          <p:cNvSpPr>
            <a:spLocks noGrp="1"/>
          </p:cNvSpPr>
          <p:nvPr/>
        </p:nvSpPr>
        <p:spPr>
          <a:xfrm>
            <a:off x="1181100" y="31242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Telegraf :9273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3E3764D-FDE6-42E2-B230-9BAB829453AC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171450" cy="171450"/>
          </a:xfrm>
          <a:prstGeom prst="ellipse">
            <a:avLst/>
          </a:prstGeom>
          <a:solidFill>
            <a:srgbClr val="19A97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58A1F77-50AF-4645-B3F7-9F4C4BF13964}"/>
              </a:ext>
            </a:extLst>
          </p:cNvPr>
          <p:cNvSpPr>
            <a:spLocks noGrp="1"/>
          </p:cNvSpPr>
          <p:nvPr/>
        </p:nvSpPr>
        <p:spPr>
          <a:xfrm>
            <a:off x="1181100" y="36576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Infraestrutura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52C4188-B684-4207-99FC-C630D49358C3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3 × Node Exporter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3457D11-68D2-424F-8152-50A5E1ACA796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171450" cy="171450"/>
          </a:xfrm>
          <a:prstGeom prst="ellipse">
            <a:avLst/>
          </a:prstGeom>
          <a:solidFill>
            <a:srgbClr val="E596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375A1A9-01B4-49ED-A1A9-C00F7D3542F1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01828"/>
                </a:solidFill>
              </a:defRPr>
            </a:pPr>
            <a:r>
              <a:rPr sz="1350" b="1">
                <a:solidFill>
                  <a:srgbClr val="101828"/>
                </a:solidFill>
              </a:rPr>
              <a:t>Prometheus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3B41C0E-AD56-4F87-89EF-94E2389EC5CF}"/>
              </a:ext>
            </a:extLst>
          </p:cNvPr>
          <p:cNvSpPr>
            <a:spLocks noGrp="1"/>
          </p:cNvSpPr>
          <p:nvPr/>
        </p:nvSpPr>
        <p:spPr>
          <a:xfrm>
            <a:off x="1181100" y="47625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Auto monitoramento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5E1728A-0355-4A00-AC3F-3BAF9A2D8B7A}"/>
              </a:ext>
            </a:extLst>
          </p:cNvPr>
          <p:cNvSpPr>
            <a:spLocks noGrp="1"/>
          </p:cNvSpPr>
          <p:nvPr/>
        </p:nvSpPr>
        <p:spPr>
          <a:xfrm>
            <a:off x="876300" y="52197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9A974"/>
                </a:solidFill>
              </a:defRPr>
            </a:pPr>
            <a:r>
              <a:rPr sz="1275" b="1">
                <a:solidFill>
                  <a:srgbClr val="19A974"/>
                </a:solidFill>
              </a:rPr>
              <a:t>3/3 Node Exporters ativos</a:t>
            </a:r>
          </a:p>
        </p:txBody>
      </p:sp>
      <p:sp>
        <p:nvSpPr>
          <p:cNvPr id="18" name="PRINT_PROMETHEUS">
            <a:extLst>
              <a:ext uri="{FF2B5EF4-FFF2-40B4-BE49-F238E27FC236}">
                <a16:creationId xmlns:a16="http://schemas.microsoft.com/office/drawing/2014/main" id="{7D6750FD-C9CA-40E2-A53B-DE6AB2B8AD6C}"/>
              </a:ext>
            </a:extLst>
          </p:cNvPr>
          <p:cNvSpPr>
            <a:spLocks noGrp="1"/>
          </p:cNvSpPr>
          <p:nvPr/>
        </p:nvSpPr>
        <p:spPr>
          <a:xfrm>
            <a:off x="4362450" y="1885950"/>
            <a:ext cx="721995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9525">
            <a:solidFill>
              <a:srgbClr val="253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E414AEE-64DB-4FE2-8DA2-92975D73BD69}"/>
              </a:ext>
            </a:extLst>
          </p:cNvPr>
          <p:cNvSpPr>
            <a:spLocks noGrp="1"/>
          </p:cNvSpPr>
          <p:nvPr/>
        </p:nvSpPr>
        <p:spPr>
          <a:xfrm>
            <a:off x="4362450" y="1885950"/>
            <a:ext cx="7219950" cy="66675"/>
          </a:xfrm>
          <a:prstGeom prst="rect">
            <a:avLst/>
          </a:prstGeom>
          <a:solidFill>
            <a:srgbClr val="E59618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2057CAC6-7058-4376-A543-2BE79C7B64FE}"/>
              </a:ext>
            </a:extLst>
          </p:cNvPr>
          <p:cNvSpPr>
            <a:spLocks noGrp="1"/>
          </p:cNvSpPr>
          <p:nvPr/>
        </p:nvSpPr>
        <p:spPr>
          <a:xfrm>
            <a:off x="4629150" y="22098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7243A"/>
          </a:solidFill>
          <a:ln w="9525">
            <a:solidFill>
              <a:srgbClr val="3A4B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F6959A7-2770-4AA5-8F25-36911222F7B7}"/>
              </a:ext>
            </a:extLst>
          </p:cNvPr>
          <p:cNvSpPr>
            <a:spLocks noGrp="1"/>
          </p:cNvSpPr>
          <p:nvPr/>
        </p:nvSpPr>
        <p:spPr>
          <a:xfrm>
            <a:off x="4629150" y="2276475"/>
            <a:ext cx="514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E59618"/>
                </a:solidFill>
              </a:defRPr>
            </a:pPr>
            <a:r>
              <a:rPr sz="1950" b="1">
                <a:solidFill>
                  <a:srgbClr val="E59618"/>
                </a:solidFill>
              </a:rPr>
              <a:t>▧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1D2A486-4333-4FA8-B098-1F3984E8A3A7}"/>
              </a:ext>
            </a:extLst>
          </p:cNvPr>
          <p:cNvSpPr>
            <a:spLocks noGrp="1"/>
          </p:cNvSpPr>
          <p:nvPr/>
        </p:nvSpPr>
        <p:spPr>
          <a:xfrm>
            <a:off x="5334000" y="2200275"/>
            <a:ext cx="59626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Prometheus — Targets UP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D647414-65C6-4A9C-DE36-16AB333406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724149"/>
            <a:ext cx="5905500" cy="262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4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9B93EAD0-E590-45E4-8386-331EE34364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63C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BA79276-3D80-43D6-B65F-C4686F8A710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B63CE"/>
                </a:solidFill>
              </a:defRPr>
            </a:pPr>
            <a:r>
              <a:rPr sz="975" b="1">
                <a:solidFill>
                  <a:srgbClr val="0B63CE"/>
                </a:solidFill>
              </a:rPr>
              <a:t>VISUALIZAÇÃO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0D84FA-D3C7-46F9-A7D5-5375F193DBB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01828"/>
                </a:solidFill>
              </a:defRPr>
            </a:pPr>
            <a:r>
              <a:rPr sz="2700" b="1">
                <a:solidFill>
                  <a:srgbClr val="101828"/>
                </a:solidFill>
              </a:rPr>
              <a:t>Dashboards e alertas transformam métricas em evidência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1FBBEA8-E634-4DCC-9295-44622F05A9B9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1038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Os artefatos são provisionados por arquivo e reaparecem após nova implantação.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2A3B7B8-DE14-46DC-8BE3-D3D4D6EF438C}"/>
              </a:ext>
            </a:extLst>
          </p:cNvPr>
          <p:cNvSpPr>
            <a:spLocks noGrp="1"/>
          </p:cNvSpPr>
          <p:nvPr/>
        </p:nvSpPr>
        <p:spPr>
          <a:xfrm>
            <a:off x="11334750" y="626745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67085"/>
                </a:solidFill>
              </a:defRPr>
            </a:pPr>
            <a:r>
              <a:rPr sz="975" b="1">
                <a:solidFill>
                  <a:srgbClr val="667085"/>
                </a:solidFill>
              </a:rPr>
              <a:t>07</a:t>
            </a:r>
          </a:p>
        </p:txBody>
      </p:sp>
      <p:sp>
        <p:nvSpPr>
          <p:cNvPr id="6" name="PRINT_GRAFANA">
            <a:extLst>
              <a:ext uri="{FF2B5EF4-FFF2-40B4-BE49-F238E27FC236}">
                <a16:creationId xmlns:a16="http://schemas.microsoft.com/office/drawing/2014/main" id="{88DCC3C2-0F27-4A14-A36E-C6413009A6B6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5334000" cy="3714750"/>
          </a:xfrm>
          <a:prstGeom prst="roundRect">
            <a:avLst>
              <a:gd name="adj" fmla="val 3077"/>
            </a:avLst>
          </a:prstGeom>
          <a:solidFill>
            <a:srgbClr val="0B1220"/>
          </a:solidFill>
          <a:ln w="9525">
            <a:solidFill>
              <a:srgbClr val="253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A8835D-0B13-468C-BEBE-A5F49524455F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5334000" cy="66675"/>
          </a:xfrm>
          <a:prstGeom prst="rect">
            <a:avLst/>
          </a:prstGeom>
          <a:solidFill>
            <a:srgbClr val="22A9D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2C03A7B-3B5C-4255-B680-B8947FB58881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7243A"/>
          </a:solidFill>
          <a:ln w="9525">
            <a:solidFill>
              <a:srgbClr val="3A4B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F12A33F-50FA-49C5-BCB6-A89E562E04BE}"/>
              </a:ext>
            </a:extLst>
          </p:cNvPr>
          <p:cNvSpPr>
            <a:spLocks noGrp="1"/>
          </p:cNvSpPr>
          <p:nvPr/>
        </p:nvSpPr>
        <p:spPr>
          <a:xfrm>
            <a:off x="876300" y="2257425"/>
            <a:ext cx="514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2A9D6"/>
                </a:solidFill>
              </a:defRPr>
            </a:pPr>
            <a:r>
              <a:rPr sz="1950" b="1">
                <a:solidFill>
                  <a:srgbClr val="22A9D6"/>
                </a:solidFill>
              </a:rPr>
              <a:t>▧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587769F-069E-4033-92ED-20E67EB3E5D4}"/>
              </a:ext>
            </a:extLst>
          </p:cNvPr>
          <p:cNvSpPr>
            <a:spLocks noGrp="1"/>
          </p:cNvSpPr>
          <p:nvPr/>
        </p:nvSpPr>
        <p:spPr>
          <a:xfrm>
            <a:off x="1581150" y="2181225"/>
            <a:ext cx="40767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Dashboard Grafana</a:t>
            </a:r>
          </a:p>
        </p:txBody>
      </p:sp>
      <p:sp>
        <p:nvSpPr>
          <p:cNvPr id="14" name="PRINT_ALERTA">
            <a:extLst>
              <a:ext uri="{FF2B5EF4-FFF2-40B4-BE49-F238E27FC236}">
                <a16:creationId xmlns:a16="http://schemas.microsoft.com/office/drawing/2014/main" id="{60E5243F-1D26-4942-AE8A-F004567F216C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334000" cy="3714750"/>
          </a:xfrm>
          <a:prstGeom prst="roundRect">
            <a:avLst>
              <a:gd name="adj" fmla="val 3077"/>
            </a:avLst>
          </a:prstGeom>
          <a:solidFill>
            <a:srgbClr val="0B1220"/>
          </a:solidFill>
          <a:ln w="9525">
            <a:solidFill>
              <a:srgbClr val="25334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7AA059F-BA85-4D35-9F58-FC42BF09614E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334000" cy="66675"/>
          </a:xfrm>
          <a:prstGeom prst="rect">
            <a:avLst/>
          </a:prstGeom>
          <a:solidFill>
            <a:srgbClr val="D83B4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7D9788E-479E-47C0-A0BF-16ED6D54F2F5}"/>
              </a:ext>
            </a:extLst>
          </p:cNvPr>
          <p:cNvSpPr>
            <a:spLocks noGrp="1"/>
          </p:cNvSpPr>
          <p:nvPr/>
        </p:nvSpPr>
        <p:spPr>
          <a:xfrm>
            <a:off x="6515100" y="219075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17243A"/>
          </a:solidFill>
          <a:ln w="9525">
            <a:solidFill>
              <a:srgbClr val="3A4B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B2F7230-5435-4E3C-9BF6-173B1AB81535}"/>
              </a:ext>
            </a:extLst>
          </p:cNvPr>
          <p:cNvSpPr>
            <a:spLocks noGrp="1"/>
          </p:cNvSpPr>
          <p:nvPr/>
        </p:nvSpPr>
        <p:spPr>
          <a:xfrm>
            <a:off x="6515100" y="2257425"/>
            <a:ext cx="5143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D83B4B"/>
                </a:solidFill>
              </a:defRPr>
            </a:pPr>
            <a:r>
              <a:rPr sz="1950" b="1">
                <a:solidFill>
                  <a:srgbClr val="D83B4B"/>
                </a:solidFill>
              </a:rPr>
              <a:t>▧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C73568B-0430-4563-B604-54472C888B6E}"/>
              </a:ext>
            </a:extLst>
          </p:cNvPr>
          <p:cNvSpPr>
            <a:spLocks noGrp="1"/>
          </p:cNvSpPr>
          <p:nvPr/>
        </p:nvSpPr>
        <p:spPr>
          <a:xfrm>
            <a:off x="7219950" y="2181225"/>
            <a:ext cx="40767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Alerta disparado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78ECE3E-A7C2-485B-9CE5-81099F36C5FC}"/>
              </a:ext>
            </a:extLst>
          </p:cNvPr>
          <p:cNvSpPr>
            <a:spLocks noGrp="1"/>
          </p:cNvSpPr>
          <p:nvPr/>
        </p:nvSpPr>
        <p:spPr>
          <a:xfrm>
            <a:off x="819150" y="57721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Infraestrutura consolidada dos 3 nós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7FBE276-3E0A-4515-A96F-35593C93B852}"/>
              </a:ext>
            </a:extLst>
          </p:cNvPr>
          <p:cNvSpPr>
            <a:spLocks noGrp="1"/>
          </p:cNvSpPr>
          <p:nvPr/>
        </p:nvSpPr>
        <p:spPr>
          <a:xfrm>
            <a:off x="6457950" y="57721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 dirty="0" err="1">
                <a:solidFill>
                  <a:srgbClr val="667085"/>
                </a:solidFill>
              </a:rPr>
              <a:t>Regra</a:t>
            </a:r>
            <a:r>
              <a:rPr sz="1200" b="0" dirty="0">
                <a:solidFill>
                  <a:srgbClr val="667085"/>
                </a:solidFill>
              </a:rPr>
              <a:t> </a:t>
            </a:r>
            <a:r>
              <a:rPr sz="1200" b="0" dirty="0" err="1">
                <a:solidFill>
                  <a:srgbClr val="667085"/>
                </a:solidFill>
              </a:rPr>
              <a:t>testada</a:t>
            </a:r>
            <a:r>
              <a:rPr sz="1200" b="0" dirty="0">
                <a:solidFill>
                  <a:srgbClr val="667085"/>
                </a:solidFill>
              </a:rPr>
              <a:t> com carga real </a:t>
            </a:r>
            <a:r>
              <a:rPr sz="1200" b="0" dirty="0" err="1">
                <a:solidFill>
                  <a:srgbClr val="667085"/>
                </a:solidFill>
              </a:rPr>
              <a:t>na</a:t>
            </a:r>
            <a:r>
              <a:rPr sz="1200" b="0" dirty="0">
                <a:solidFill>
                  <a:srgbClr val="667085"/>
                </a:solidFill>
              </a:rPr>
              <a:t> JVM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FE65294-0821-FD8E-94BB-BF21C8518C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" y="2857500"/>
            <a:ext cx="5052388" cy="2455164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A1AFE8A0-E456-163B-ED02-07BD8711C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810" y="2857500"/>
            <a:ext cx="4943180" cy="251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152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SIG DevOps">
      <a:dk1>
        <a:srgbClr val="0B1220"/>
      </a:dk1>
      <a:lt1>
        <a:srgbClr val="FFFFFF"/>
      </a:lt1>
      <a:dk2>
        <a:srgbClr val="344054"/>
      </a:dk2>
      <a:lt2>
        <a:srgbClr val="D7DFEA"/>
      </a:lt2>
      <a:accent1>
        <a:srgbClr val="0B63CE"/>
      </a:accent1>
      <a:accent2>
        <a:srgbClr val="22A9D6"/>
      </a:accent2>
      <a:accent3>
        <a:srgbClr val="19A974"/>
      </a:accent3>
      <a:accent4>
        <a:srgbClr val="E59618"/>
      </a:accent4>
      <a:accent5>
        <a:srgbClr val="D83B4B"/>
      </a:accent5>
      <a:accent6>
        <a:srgbClr val="7C3AED"/>
      </a:accent6>
      <a:hlink>
        <a:srgbClr val="0B63C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SIG DevOp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ESIG DevOps">
      <a:dk1>
        <a:srgbClr val="0B1220"/>
      </a:dk1>
      <a:lt1>
        <a:srgbClr val="FFFFFF"/>
      </a:lt1>
      <a:dk2>
        <a:srgbClr val="344054"/>
      </a:dk2>
      <a:lt2>
        <a:srgbClr val="D7DFEA"/>
      </a:lt2>
      <a:accent1>
        <a:srgbClr val="0B63CE"/>
      </a:accent1>
      <a:accent2>
        <a:srgbClr val="22A9D6"/>
      </a:accent2>
      <a:accent3>
        <a:srgbClr val="19A974"/>
      </a:accent3>
      <a:accent4>
        <a:srgbClr val="E59618"/>
      </a:accent4>
      <a:accent5>
        <a:srgbClr val="D83B4B"/>
      </a:accent5>
      <a:accent6>
        <a:srgbClr val="7C3AED"/>
      </a:accent6>
      <a:hlink>
        <a:srgbClr val="0B63CE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SIG DevOp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Microsoft Office PowerPoint</Application>
  <DocSecurity>0</DocSecurity>
  <PresentationFormat>Widescreen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Kalvin Klein</cp:lastModifiedBy>
  <cp:revision>1</cp:revision>
  <dcterms:created xsi:type="dcterms:W3CDTF">2026-08-30T19:21:09Z</dcterms:created>
  <dcterms:modified xsi:type="dcterms:W3CDTF">2026-08-31T01:06:14Z</dcterms:modified>
</cp:coreProperties>
</file>